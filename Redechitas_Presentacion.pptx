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6" r:id="rId12"/>
    <p:sldId id="271" r:id="rId13"/>
    <p:sldId id="267" r:id="rId14"/>
    <p:sldId id="273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06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4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2B43-4210-74CC-5183-CDDF7C31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5D9A2-D959-B7C2-A845-F88D7FDC9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DAE5C-89BB-6CB0-CE63-589E6A4F0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46CDE-ACD1-CDDC-3BE9-5854E0BD0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37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3F5D-3F8C-7DC6-4BA5-D2206231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B1E42-30D3-E5DB-6573-B8EC55DDE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2F2A1-58BA-E962-7423-67E6404DB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624F-1729-0583-EC58-318FCE605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62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63C4-6CF0-061C-FC1B-0E7BAE9E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C5A3A-9EBE-3365-B389-B1DF56C09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DF6D3-FD16-C147-9FA7-0F70E00A0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51BD-7A7A-E982-4811-DEFC79D5B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34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y3fNslWMn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680960" y="-457200"/>
            <a:ext cx="2194560" cy="219456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01168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1B2E"/>
                </a:solidFill>
              </a:rPr>
              <a:t>REDES E INFRAESTRUCTURA 2026-01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Redechitas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EAFC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Plataforma de Gestión Residencial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8EAFC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Microservicios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3090672"/>
            <a:ext cx="3200400" cy="411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FC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Emmanuel Escobar Santos  |  Johann E. González Sandoval  |  Juan David Lasso Chaparro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EAFC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Docente: Oscar H. Mondragón Martínez  •  22 de Mayo de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EAFC2"/>
                </a:solidFill>
              </a:rPr>
              <a:t>Universidad Autónoma de Occidente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Problemática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Retos de la administración residencial en Colombia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496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620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Cuatro microservicios independientes + HAProxy + Nginx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Tecnologías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0965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sintético, Docker Swarm vs. Kubernetes, Spark vs. Flink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18872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00600" y="11887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0060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1261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Componentes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6276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Diagrama de sistema, pipeline Spark, flujos REST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42316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800600" y="24231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0060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2496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8620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Balanceo, escalabilidad horizontal y estrés con JMeter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1480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0060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965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Decisiones validadas por datos y aprendizajes del equipo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Contexto y Problemática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6908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572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descentralizada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Residentes y propiedades gestionados sin sistema unificado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6908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572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09160" y="114300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de pagos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6459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de cuotas de administración sin automatización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06908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572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9260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ineficiente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Parqueaderos y torres sin trazabilidad digital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06908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4572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09160" y="278892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29260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analítica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32918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Ausencia de herramientas para toma de decisiones basadas en datos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Los sistemas existentes son monolíticos, costosos y difíciles de escalar → necesidad de una solución moderna.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Solución Propuesta — Microservicios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6908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731520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MS1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</a:rPr>
              <a:t>Gestión de Usuarios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FC2"/>
                </a:solidFill>
              </a:rPr>
              <a:t>:3000  |  Node.js + Express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CRUD usuarios, auth JWT+bcrypt, roles, triggers MySQL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06908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31520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MS2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</a:rPr>
              <a:t>Gestión de Propiedades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FC2"/>
                </a:solidFill>
              </a:rPr>
              <a:t>:3001  |  Node.js + Express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3212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Conjuntos → Torres → Apartamentos → Parqueaderos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06908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73152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288036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MS3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</a:rPr>
              <a:t>Gestión y Pagos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FC2"/>
                </a:solidFill>
              </a:rPr>
              <a:t>:3002  |  Node.js + Express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Gestiones, cobros y validación cruzada con MS1/MS2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06908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73152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709160" y="2880360"/>
            <a:ext cx="731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MS4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2E"/>
                </a:solidFill>
              </a:rPr>
              <a:t>Analítica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FC2"/>
                </a:solidFill>
              </a:rPr>
              <a:t>:3003  |  FastAPI + PySpark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3212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Estadísticas batch y on-demand, correlación Pearson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AFC2"/>
                </a:solidFill>
              </a:rPr>
              <a:t>Frontend: Nginx (estático)   |   Punto de entrada único: HAProxy :8080   |   Orquestación: Docker Swarm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Sintético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5603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+7.000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AE6FD"/>
                </a:solidFill>
              </a:rPr>
              <a:t>registros totales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AE6FD"/>
                </a:solidFill>
              </a:rPr>
              <a:t>publicados en Kaggle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078992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063240" y="1078992"/>
            <a:ext cx="36576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520440" y="110642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6.466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110642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Pagos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975104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063240" y="1975104"/>
            <a:ext cx="36576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520440" y="200253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677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0025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Apartamentos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3240" y="2871216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063240" y="2871216"/>
            <a:ext cx="36576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520440" y="289864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317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28986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Torres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63240" y="3767328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063240" y="3767328"/>
            <a:ext cx="36576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520440" y="37947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461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Gestiones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97880" y="1078992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897880" y="1078992"/>
            <a:ext cx="36576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355080" y="110642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276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110642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Usuarios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1975104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897880" y="1975104"/>
            <a:ext cx="365760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355080" y="200253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89520" y="20025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Conjuntos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2871216"/>
            <a:ext cx="256032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5897880" y="2871216"/>
            <a:ext cx="36576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355080" y="289864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21B2E"/>
                </a:solidFill>
              </a:rPr>
              <a:t>18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89520" y="28986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EAFC2"/>
                </a:solidFill>
              </a:rPr>
              <a:t>Parqueaderos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200400"/>
            <a:ext cx="25603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27432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</a:rPr>
              <a:t>¿Para qué?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" y="35935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</a:rPr>
              <a:t>• Validar pipelines de analítica distribuida
• Simular operación real de un conjunto
• Datos representativos sin privacidad
• Pruebas de correlación y tendencias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Comparativas Tecnológicas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Orquestación de Contenedores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174733"/>
              </p:ext>
            </p:extLst>
          </p:nvPr>
        </p:nvGraphicFramePr>
        <p:xfrm>
          <a:off x="274320" y="1435608"/>
          <a:ext cx="4023360" cy="16916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Docker Swarm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Kubernetes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Nomad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Complejidad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Baja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Muy Alta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Media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Curva aprendizaje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Baja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Muy alta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Media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Escalabilidad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Buena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Excelente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Buena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Alta disponibilidad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Sí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Sí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Sí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Motor de Procesamiento de Datos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85260"/>
              </p:ext>
            </p:extLst>
          </p:nvPr>
        </p:nvGraphicFramePr>
        <p:xfrm>
          <a:off x="4754880" y="1435608"/>
          <a:ext cx="4114800" cy="17769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Apache Spark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Apache Flink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Dask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Paradigma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Batch+Streaming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Streaming+Batch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Paralelo Py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Motor SQL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Maduro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Disponible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Limitado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ML integrado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MLlib (completa)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FlinkML básico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Scikit-learn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Overhead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5A82"/>
                          </a:solidFill>
                        </a:rPr>
                        <a:t>Medio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Alto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Bajo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291840"/>
            <a:ext cx="402336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27432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65A82"/>
                </a:solidFill>
              </a:rPr>
              <a:t>Elegimos</a:t>
            </a:r>
            <a:r>
              <a:rPr lang="en-US" sz="1300" b="1" dirty="0">
                <a:solidFill>
                  <a:srgbClr val="065A82"/>
                </a:solidFill>
              </a:rPr>
              <a:t> Docker Swarm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3749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A52"/>
                </a:solidFill>
              </a:rPr>
              <a:t>Integración nativa Docker CLI · Baja curva de aprendizaje · Conocimiento previo del curso · Capacidad suficiente para el alcance del proyecto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3291840"/>
            <a:ext cx="4114800" cy="1463040"/>
          </a:xfrm>
          <a:prstGeom prst="rect">
            <a:avLst/>
          </a:prstGeom>
          <a:solidFill>
            <a:srgbClr val="E8F4F8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4754880" y="3364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65A82"/>
                </a:solidFill>
              </a:rPr>
              <a:t>Elegimos</a:t>
            </a:r>
            <a:r>
              <a:rPr lang="en-US" sz="1300" b="1" dirty="0">
                <a:solidFill>
                  <a:srgbClr val="065A82"/>
                </a:solidFill>
              </a:rPr>
              <a:t> Apache Spark</a:t>
            </a:r>
            <a:endParaRPr lang="en-US" sz="1300" dirty="0"/>
          </a:p>
        </p:txBody>
      </p:sp>
      <p:sp>
        <p:nvSpPr>
          <p:cNvPr id="5" name="Text 9"/>
          <p:cNvSpPr/>
          <p:nvPr/>
        </p:nvSpPr>
        <p:spPr>
          <a:xfrm>
            <a:off x="4892040" y="3749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A52"/>
                </a:solidFill>
              </a:rPr>
              <a:t>Madurez probada · PySpark API amplia · SQL + MLlib nativo · Compatible con clúster standalone en Swarm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Arquitectura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3385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" y="151790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1133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35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Solicita páginas a Nginx (puerto 80)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432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" y="229514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7240" y="1911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HAProxy :8080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122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Evalúa prefijo URL → enruta por ACL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432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" y="307238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77240" y="2688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Microservicios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Round-robin entre réplicas activas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46557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432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" y="384962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77240" y="3465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MS3 → MS1/MS2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666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Validación cruzada HTTP interno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4281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27432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70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MS4 → Spark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443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Jobs distribuidos sobre 2 workers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2E"/>
                </a:solidFill>
              </a:rPr>
              <a:t>HAProxy: único punto de entrada externo · Health-checks TCP cada 10s · Stats en :8404/stats</a:t>
            </a:r>
            <a:endParaRPr lang="en-US" sz="100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015B4F16-AC2A-2BE9-E2FB-D4A9AA7E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039" y="727815"/>
            <a:ext cx="5231544" cy="3884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2C9A2-1496-EA67-90A5-05A37093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A3D1D4-91A4-05D0-AA8E-E8CDB18FF76B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3ED708-7D32-37C8-32A6-660405BEFAB9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Diagrama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despliegue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806B88-5969-C0E8-7428-5D58CD3FB7E6}"/>
              </a:ext>
            </a:extLst>
          </p:cNvPr>
          <p:cNvSpPr/>
          <p:nvPr/>
        </p:nvSpPr>
        <p:spPr>
          <a:xfrm>
            <a:off x="274320" y="113385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C83708-6522-9536-EDA2-D19ECABCF6E4}"/>
              </a:ext>
            </a:extLst>
          </p:cNvPr>
          <p:cNvSpPr/>
          <p:nvPr/>
        </p:nvSpPr>
        <p:spPr>
          <a:xfrm>
            <a:off x="27432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1B0354-F44C-B2DB-E715-C4E379B9E467}"/>
              </a:ext>
            </a:extLst>
          </p:cNvPr>
          <p:cNvSpPr/>
          <p:nvPr/>
        </p:nvSpPr>
        <p:spPr>
          <a:xfrm>
            <a:off x="448056" y="151790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49AF52-4B65-0AFD-7435-FB92C907A90C}"/>
              </a:ext>
            </a:extLst>
          </p:cNvPr>
          <p:cNvSpPr/>
          <p:nvPr/>
        </p:nvSpPr>
        <p:spPr>
          <a:xfrm>
            <a:off x="777240" y="1234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Cliente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2C48176-7F77-641D-E372-C7FEC6CEC7AA}"/>
              </a:ext>
            </a:extLst>
          </p:cNvPr>
          <p:cNvSpPr/>
          <p:nvPr/>
        </p:nvSpPr>
        <p:spPr>
          <a:xfrm>
            <a:off x="274320" y="1911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BED7E0-FA3B-330C-D771-317FC5517670}"/>
              </a:ext>
            </a:extLst>
          </p:cNvPr>
          <p:cNvSpPr/>
          <p:nvPr/>
        </p:nvSpPr>
        <p:spPr>
          <a:xfrm>
            <a:off x="27432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60D04AC-3B4F-B852-3E13-A24BCDCA2E05}"/>
              </a:ext>
            </a:extLst>
          </p:cNvPr>
          <p:cNvSpPr/>
          <p:nvPr/>
        </p:nvSpPr>
        <p:spPr>
          <a:xfrm>
            <a:off x="448056" y="229514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B8D0C8-6F77-B3D6-AEAD-5D7C5CA230C1}"/>
              </a:ext>
            </a:extLst>
          </p:cNvPr>
          <p:cNvSpPr/>
          <p:nvPr/>
        </p:nvSpPr>
        <p:spPr>
          <a:xfrm>
            <a:off x="777240" y="2002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HAProxy :8080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FB35AE2-6100-8F46-8CF4-EC85C34A40DD}"/>
              </a:ext>
            </a:extLst>
          </p:cNvPr>
          <p:cNvSpPr/>
          <p:nvPr/>
        </p:nvSpPr>
        <p:spPr>
          <a:xfrm>
            <a:off x="274320" y="268833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B3E00EF-8577-96DB-82B2-CE8124D15887}"/>
              </a:ext>
            </a:extLst>
          </p:cNvPr>
          <p:cNvSpPr/>
          <p:nvPr/>
        </p:nvSpPr>
        <p:spPr>
          <a:xfrm>
            <a:off x="27432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C322933-B341-0F84-3A83-391D397C53F7}"/>
              </a:ext>
            </a:extLst>
          </p:cNvPr>
          <p:cNvSpPr/>
          <p:nvPr/>
        </p:nvSpPr>
        <p:spPr>
          <a:xfrm>
            <a:off x="448056" y="307238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5693B01-B2BA-4365-28B8-2269800FC060}"/>
              </a:ext>
            </a:extLst>
          </p:cNvPr>
          <p:cNvSpPr/>
          <p:nvPr/>
        </p:nvSpPr>
        <p:spPr>
          <a:xfrm>
            <a:off x="77724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Microservicios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300D188-A793-989B-854E-CAE3E0E14458}"/>
              </a:ext>
            </a:extLst>
          </p:cNvPr>
          <p:cNvSpPr/>
          <p:nvPr/>
        </p:nvSpPr>
        <p:spPr>
          <a:xfrm>
            <a:off x="274320" y="346557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4B37A17-9DD0-FD2E-0E26-FB7D3791CEDB}"/>
              </a:ext>
            </a:extLst>
          </p:cNvPr>
          <p:cNvSpPr/>
          <p:nvPr/>
        </p:nvSpPr>
        <p:spPr>
          <a:xfrm>
            <a:off x="27432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240595D-595D-718A-8049-138737EAA0CE}"/>
              </a:ext>
            </a:extLst>
          </p:cNvPr>
          <p:cNvSpPr/>
          <p:nvPr/>
        </p:nvSpPr>
        <p:spPr>
          <a:xfrm>
            <a:off x="448056" y="3849624"/>
            <a:ext cx="41148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D8C7748-F018-1789-87F1-DA5EF40F14AB}"/>
              </a:ext>
            </a:extLst>
          </p:cNvPr>
          <p:cNvSpPr/>
          <p:nvPr/>
        </p:nvSpPr>
        <p:spPr>
          <a:xfrm>
            <a:off x="777240" y="35570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MS3 → MS1/MS2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B231E83-7888-DD19-4FF0-BE8875A50EB0}"/>
              </a:ext>
            </a:extLst>
          </p:cNvPr>
          <p:cNvSpPr/>
          <p:nvPr/>
        </p:nvSpPr>
        <p:spPr>
          <a:xfrm>
            <a:off x="274320" y="424281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953B7F0-36FF-AF03-F058-52C44F1E5D50}"/>
              </a:ext>
            </a:extLst>
          </p:cNvPr>
          <p:cNvSpPr/>
          <p:nvPr/>
        </p:nvSpPr>
        <p:spPr>
          <a:xfrm>
            <a:off x="27432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8958319-889C-8589-4818-43912E83F714}"/>
              </a:ext>
            </a:extLst>
          </p:cNvPr>
          <p:cNvSpPr/>
          <p:nvPr/>
        </p:nvSpPr>
        <p:spPr>
          <a:xfrm>
            <a:off x="777240" y="436223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MS4 → Spark</a:t>
            </a:r>
            <a:endParaRPr lang="en-US" sz="12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6231A4E-3F71-7A58-C2EF-5F54DBEF5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903" y="-1"/>
            <a:ext cx="5008098" cy="51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Componentes Detallados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822960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64008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3385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Función: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1912" y="11338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</a:rPr>
              <a:t>CRUD usuarios · JWT+bcrypt · Triggers MySQL para roles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5179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Datos: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90472" y="15179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C2"/>
                </a:solidFill>
              </a:rPr>
              <a:t>usuario: id, nombre, teléfono, email, rol, conjunto_id, password_hash, password_changed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39112"/>
            <a:ext cx="8595360" cy="822960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64008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74320" y="203911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Función: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81912" y="20939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</a:rPr>
              <a:t>Jerarquía Conjunto→Torre→Apt→Parqueadero · Validación FK con JOINs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4780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Datos: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90472" y="2478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C2"/>
                </a:solidFill>
              </a:rPr>
              <a:t>Tablas: conjunto, torre, apartamento, parqueadero · Base: propiedades_db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8595360" cy="822960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640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4320" y="29992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0540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Función: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81912" y="30540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</a:rPr>
              <a:t>Gestiones residenciales y cobros · Validación cruzada HTTP interno MS1+MS2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4381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Datos: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90472" y="34381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C2"/>
                </a:solidFill>
              </a:rPr>
              <a:t>gestion (tipo, descripción, estado, usuario_id, apt_id) · pago (monto, fecha, estado)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8595360" cy="822960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274320" y="3959352"/>
            <a:ext cx="64008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74320" y="39593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01421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Función: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81912" y="40142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</a:rPr>
              <a:t>Batch pre-computado · On-demand con SparkSession · Correlación Pearson · FastAPI REST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43982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Datos: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90472" y="43982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C2"/>
                </a:solidFill>
              </a:rPr>
              <a:t>Entrada: CSV en csv_data · Salida: JSON en spark_results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EAFC2"/>
                </a:solidFill>
              </a:rPr>
              <a:t>MySQL 8.0 ×3 instancias independientes  ·  Nginx Frontend (JWT en localStorage)  ·  Apache Spark 3.5.1 Master + 2 Workers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Pipeline de Procesamiento Spark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353312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1252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67335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04872"/>
            <a:ext cx="804672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Lectura CSVs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desde volumen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Docker compartido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77924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19072" y="1143000"/>
            <a:ext cx="1353312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719072" y="1252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19072" y="167335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93392" y="2404872"/>
            <a:ext cx="804672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810512" y="251460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Cast de tipos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nulos · fechas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76956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18104" y="1143000"/>
            <a:ext cx="1353312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118104" y="1252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18104" y="167335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Agrega-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92424" y="2404872"/>
            <a:ext cx="804672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209544" y="251460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groupBy + agg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sum / mean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75988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7136" y="1143000"/>
            <a:ext cx="1353312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17136" y="1252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17136" y="167335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Correla-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91456" y="2404872"/>
            <a:ext cx="804672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08576" y="251460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VectorAssembler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Pearson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pyspark.ml.stat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75020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16168" y="1143000"/>
            <a:ext cx="1353312" cy="3200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916168" y="1252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16168" y="167335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Persis-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tencia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90488" y="2404872"/>
            <a:ext cx="804672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007608" y="251460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JSON escritos 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spark_results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(volumen)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74052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5200" y="1143000"/>
            <a:ext cx="1353312" cy="3200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15200" y="1252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15200" y="167335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Exposi-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ción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89520" y="2404872"/>
            <a:ext cx="804672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7406640" y="251460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FastAPI sirve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JSON pre-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computados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507992"/>
            <a:ext cx="8595360" cy="47548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57200" y="45079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A52"/>
                </a:solidFill>
              </a:rPr>
              <a:t>Modo pre-computado: spark_processor.py al inicio  ·  Modo on-demand: SparkSession singleton con correlación Pearson y tendencia temporal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Pruebas de Carga — </a:t>
            </a:r>
            <a:r>
              <a:rPr lang="en-US" sz="2400" b="1" dirty="0" err="1">
                <a:solidFill>
                  <a:srgbClr val="FFFFFF"/>
                </a:solidFill>
              </a:rPr>
              <a:t>Balanceo</a:t>
            </a:r>
            <a:r>
              <a:rPr lang="en-US" sz="2400" b="1" dirty="0">
                <a:solidFill>
                  <a:srgbClr val="FFFFFF"/>
                </a:solidFill>
              </a:rPr>
              <a:t> de carga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0" y="107899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37673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Más réplicas no siempre = mejor rendimiento · El contexto de uso define la configuración óptima</a:t>
            </a:r>
            <a:endParaRPr lang="en-US" sz="1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73CBC9B-E51F-CFAE-8CDE-CC04F1B28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25" y="2756390"/>
            <a:ext cx="6868550" cy="138584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100ED45-70DB-39A4-867F-683C72923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25" y="1200269"/>
            <a:ext cx="6868552" cy="12194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E772D-B881-35A8-4C4F-DB028A66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7A7D71-9495-EE73-8B90-C6796FBC9BE2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8C7E5B-901C-DF17-85E6-205A4FB79677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Pruebas de Carga — </a:t>
            </a:r>
            <a:r>
              <a:rPr lang="en-US" sz="2400" b="1" dirty="0" err="1">
                <a:solidFill>
                  <a:srgbClr val="FFFFFF"/>
                </a:solidFill>
              </a:rPr>
              <a:t>Balanceo</a:t>
            </a:r>
            <a:r>
              <a:rPr lang="en-US" sz="2400" b="1" dirty="0">
                <a:solidFill>
                  <a:srgbClr val="FFFFFF"/>
                </a:solidFill>
              </a:rPr>
              <a:t> de cargas</a:t>
            </a:r>
            <a:endParaRPr lang="en-US" sz="24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55DAA27-8451-5DED-4059-EE0028274365}"/>
              </a:ext>
            </a:extLst>
          </p:cNvPr>
          <p:cNvSpPr/>
          <p:nvPr/>
        </p:nvSpPr>
        <p:spPr>
          <a:xfrm>
            <a:off x="1288619" y="1049697"/>
            <a:ext cx="2208627" cy="19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000" dirty="0">
                <a:solidFill>
                  <a:srgbClr val="1A3A52"/>
                </a:solidFill>
              </a:rPr>
              <a:t>1500 dos contenedores pruebas de carga</a:t>
            </a:r>
            <a:endParaRPr lang="en-US" sz="100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C3FB2DEC-4FC2-6BB7-4011-1D4B06D765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4"/>
          <a:stretch>
            <a:fillRect/>
          </a:stretch>
        </p:blipFill>
        <p:spPr>
          <a:xfrm>
            <a:off x="274321" y="3303561"/>
            <a:ext cx="3376245" cy="1760851"/>
          </a:xfrm>
          <a:prstGeom prst="rect">
            <a:avLst/>
          </a:prstGeom>
        </p:spPr>
      </p:pic>
      <p:sp>
        <p:nvSpPr>
          <p:cNvPr id="41" name="Text 6">
            <a:extLst>
              <a:ext uri="{FF2B5EF4-FFF2-40B4-BE49-F238E27FC236}">
                <a16:creationId xmlns:a16="http://schemas.microsoft.com/office/drawing/2014/main" id="{B7AE10B9-4932-8F80-F4D6-B20FF327C9BE}"/>
              </a:ext>
            </a:extLst>
          </p:cNvPr>
          <p:cNvSpPr/>
          <p:nvPr/>
        </p:nvSpPr>
        <p:spPr>
          <a:xfrm>
            <a:off x="5858275" y="1051904"/>
            <a:ext cx="2208627" cy="19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s-ES" sz="1000" dirty="0">
                <a:solidFill>
                  <a:srgbClr val="1A3A52"/>
                </a:solidFill>
              </a:rPr>
              <a:t>1500 con 4 contenedores de balanceo</a:t>
            </a:r>
            <a:endParaRPr lang="en-US" sz="100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F4615AF8-398A-4FE2-7BEE-6C37D67C88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0" t="740" b="-1"/>
          <a:stretch>
            <a:fillRect/>
          </a:stretch>
        </p:blipFill>
        <p:spPr>
          <a:xfrm>
            <a:off x="274321" y="1341130"/>
            <a:ext cx="3954977" cy="1698980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D484769-2566-8A90-B723-869AA60D63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2" t="41300" r="11737" b="1537"/>
          <a:stretch>
            <a:fillRect/>
          </a:stretch>
        </p:blipFill>
        <p:spPr>
          <a:xfrm>
            <a:off x="4677508" y="1393459"/>
            <a:ext cx="4009292" cy="1677586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E7467EFB-356B-49B6-466E-9EDEE9FD38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69" t="2271" r="1105" b="2389"/>
          <a:stretch>
            <a:fillRect/>
          </a:stretch>
        </p:blipFill>
        <p:spPr>
          <a:xfrm>
            <a:off x="5193231" y="3239737"/>
            <a:ext cx="3493569" cy="179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8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Pruebas de Carga — Estrés de Contenedores</a:t>
            </a:r>
            <a:endParaRPr lang="en-US" sz="2400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CFB778CE-215C-C802-D6B4-B6D5EBAAE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0" y="2026418"/>
            <a:ext cx="7078639" cy="1372017"/>
          </a:xfrm>
          <a:prstGeom prst="rect">
            <a:avLst/>
          </a:prstGeom>
        </p:spPr>
      </p:pic>
      <p:sp>
        <p:nvSpPr>
          <p:cNvPr id="47" name="Shape 18">
            <a:extLst>
              <a:ext uri="{FF2B5EF4-FFF2-40B4-BE49-F238E27FC236}">
                <a16:creationId xmlns:a16="http://schemas.microsoft.com/office/drawing/2014/main" id="{B3528276-C283-CED5-9A69-B8519772CEDC}"/>
              </a:ext>
            </a:extLst>
          </p:cNvPr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4CA00-784B-200B-0DD6-E7F2FCF3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D129A6-ABC5-8B2E-C038-0C107FD2B7D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DF2E26-F804-B947-7262-E051EEEFA859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Pruebas de Carga — Estrés de Contenedores</a:t>
            </a:r>
            <a:endParaRPr lang="en-US" sz="24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DEDA2EE7-C679-B7CF-671C-AF9E039B90E7}"/>
              </a:ext>
            </a:extLst>
          </p:cNvPr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5613023-07EE-6959-C1F2-81FB32B88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3" t="25709" r="23203" b="13162"/>
          <a:stretch>
            <a:fillRect/>
          </a:stretch>
        </p:blipFill>
        <p:spPr>
          <a:xfrm>
            <a:off x="457200" y="1137775"/>
            <a:ext cx="3144130" cy="163042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4CBA709-A5B7-CF3B-4DB5-548892FE0B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" t="3009" r="1150" b="2495"/>
          <a:stretch>
            <a:fillRect/>
          </a:stretch>
        </p:blipFill>
        <p:spPr>
          <a:xfrm>
            <a:off x="5598942" y="1179264"/>
            <a:ext cx="3087858" cy="1582527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FBB3E82-A34F-08E8-618E-9CB278232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827" y="2846761"/>
            <a:ext cx="3280345" cy="1696628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C0653264-1C6B-C1F1-1494-CA278C7B2D41}"/>
              </a:ext>
            </a:extLst>
          </p:cNvPr>
          <p:cNvSpPr/>
          <p:nvPr/>
        </p:nvSpPr>
        <p:spPr>
          <a:xfrm>
            <a:off x="4404946" y="2573912"/>
            <a:ext cx="390379" cy="19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3A52"/>
                </a:solidFill>
              </a:rPr>
              <a:t>2.000</a:t>
            </a:r>
            <a:endParaRPr lang="en-US" sz="10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1E9DB0-5EFF-7BEC-3A01-69A253B5CF2B}"/>
              </a:ext>
            </a:extLst>
          </p:cNvPr>
          <p:cNvSpPr/>
          <p:nvPr/>
        </p:nvSpPr>
        <p:spPr>
          <a:xfrm>
            <a:off x="1664675" y="2846761"/>
            <a:ext cx="390379" cy="19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3A52"/>
                </a:solidFill>
              </a:rPr>
              <a:t>1.000</a:t>
            </a:r>
            <a:endParaRPr lang="en-US" sz="1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12FA466B-7033-1962-9B67-8AF45239CB23}"/>
              </a:ext>
            </a:extLst>
          </p:cNvPr>
          <p:cNvSpPr/>
          <p:nvPr/>
        </p:nvSpPr>
        <p:spPr>
          <a:xfrm>
            <a:off x="7284134" y="2861769"/>
            <a:ext cx="390379" cy="19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3A52"/>
                </a:solidFill>
              </a:rPr>
              <a:t>500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22662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206240" cy="1078992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Arquitectura validada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Microservicios + Docker Swarm + Spark demostró ser coherente y escalable para el dominio de gestión residencial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206240" cy="1078992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450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2 réplicas como configuración óptima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Respaldado por datos de JMeter: el contexto (solo administradores) no requiere más, y 4 réplicas no compensa el gasto de recursos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39312"/>
            <a:ext cx="4206240" cy="1078992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389534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7124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Separación de responsabilidades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0782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Cuatro microservicios autónomos eliminan cuellos de botella y permiten despliegue, escalado y actualización independiente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4114800" cy="1078992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46320" y="1371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Analítica distribuida viable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4688" y="1554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MS4 (FastAPI + PySpark) integra batch y on-demand con latencias mínimas gracias a resultados pre-computados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114800" cy="1078992"/>
          </a:xfrm>
          <a:prstGeom prst="rect">
            <a:avLst/>
          </a:prstGeom>
          <a:solidFill>
            <a:srgbClr val="E8F4F8"/>
          </a:solidFill>
          <a:ln w="889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846320" y="2633472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46320" y="2633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E"/>
                </a:solidFill>
              </a:rPr>
              <a:t>Aprendizaje profesional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28163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Decisiones reales de arquitectura, comunicación entre servicios y pipeline de datos desde cero fortaleció al equipo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0" y="2560320"/>
            <a:ext cx="4114800" cy="41148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347472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FC2"/>
                </a:solidFill>
              </a:rPr>
              <a:t>Demo del proyecto:</a:t>
            </a:r>
            <a:endParaRPr lang="en-US" sz="13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457200" y="2450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02C39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https://youtu.be/dy3fNslWMnM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Emmanuel Escobar Santos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Johann Eduardo González Sandoval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941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Juan David Lasso Chaparro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C2"/>
                </a:solidFill>
              </a:rPr>
              <a:t>Docente: Oscar H. Mondragón Martínez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C72"/>
                </a:solidFill>
              </a:rPr>
              <a:t>Redechitas — UAO · Redes e Infraestructura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1032</Words>
  <Application>Microsoft Office PowerPoint</Application>
  <PresentationFormat>Presentación en pantalla (16:9)</PresentationFormat>
  <Paragraphs>268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Redechitas – Plataforma de Gestión Residencial</dc:title>
  <dc:subject>PptxGenJS Presentation</dc:subject>
  <dc:creator>PptxGenJS</dc:creator>
  <cp:lastModifiedBy>JUAN DAVID LASSO CHAPARRO</cp:lastModifiedBy>
  <cp:revision>2</cp:revision>
  <dcterms:created xsi:type="dcterms:W3CDTF">2026-05-22T10:11:24Z</dcterms:created>
  <dcterms:modified xsi:type="dcterms:W3CDTF">2026-05-22T10:40:20Z</dcterms:modified>
</cp:coreProperties>
</file>